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ptos"/>
              </a:rPr>
              <a:t>The Web Around A Semiprime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106070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72033"/>
                </a:solidFill>
                <a:latin typeface="Aptos"/>
              </a:rPr>
              <a:t>A semiprime is not isolated. The composites around it carry public traces of the distances to its two factors.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05840" y="3291840"/>
            <a:ext cx="1014984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733288" y="2944368"/>
            <a:ext cx="694944" cy="694944"/>
          </a:xfrm>
          <a:prstGeom prst="ellipse">
            <a:avLst/>
          </a:prstGeom>
          <a:solidFill>
            <a:srgbClr val="0F766E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2606040"/>
            <a:ext cx="16459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72033"/>
                </a:solidFill>
                <a:latin typeface="Aptos"/>
              </a:rPr>
              <a:t>hidden
factor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606040"/>
            <a:ext cx="16459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72033"/>
                </a:solidFill>
                <a:latin typeface="Aptos"/>
              </a:rPr>
              <a:t>hidden
factor</a:t>
            </a:r>
          </a:p>
        </p:txBody>
      </p:sp>
      <p:sp>
        <p:nvSpPr>
          <p:cNvPr id="8" name="Oval 7"/>
          <p:cNvSpPr/>
          <p:nvPr/>
        </p:nvSpPr>
        <p:spPr>
          <a:xfrm>
            <a:off x="4681728" y="317296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30368" y="317296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93408" y="317296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42048" y="317296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063240" y="3794760"/>
            <a:ext cx="6035040" cy="0"/>
          </a:xfrm>
          <a:prstGeom prst="line">
            <a:avLst/>
          </a:prstGeom>
          <a:ln w="381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5376672"/>
            <a:ext cx="107442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586476"/>
                </a:solidFill>
                <a:latin typeface="Aptos"/>
              </a:rPr>
              <a:t>The center number is visible. Its factors are hidden. The neighborhood is public.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41908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86476"/>
                </a:solidFill>
                <a:latin typeface="Aptos"/>
              </a:rPr>
              <a:t>Public nominations frozen first. Hidden factors used afterward for scoring.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ptos"/>
              </a:rPr>
              <a:t>The Usual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4864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72033"/>
                </a:solidFill>
                <a:latin typeface="Aptos"/>
              </a:rPr>
              <a:t>Which number divides the semiprime?</a:t>
            </a:r>
          </a:p>
        </p:txBody>
      </p:sp>
      <p:sp>
        <p:nvSpPr>
          <p:cNvPr id="4" name="Oval 3"/>
          <p:cNvSpPr/>
          <p:nvPr/>
        </p:nvSpPr>
        <p:spPr>
          <a:xfrm>
            <a:off x="5623560" y="2633472"/>
            <a:ext cx="914400" cy="914400"/>
          </a:xfrm>
          <a:prstGeom prst="ellipse">
            <a:avLst/>
          </a:prstGeom>
          <a:solidFill>
            <a:srgbClr val="172033"/>
          </a:solidFill>
          <a:ln w="1905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1874519" y="2057400"/>
            <a:ext cx="4206241" cy="1033272"/>
          </a:xfrm>
          <a:prstGeom prst="line">
            <a:avLst/>
          </a:prstGeom>
          <a:ln w="50800">
            <a:solidFill>
              <a:srgbClr val="99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080760" y="2057400"/>
            <a:ext cx="4206240" cy="1033272"/>
          </a:xfrm>
          <a:prstGeom prst="line">
            <a:avLst/>
          </a:prstGeom>
          <a:ln w="50800">
            <a:solidFill>
              <a:srgbClr val="99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591055" y="177393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991B1B"/>
                </a:solidFill>
                <a:latin typeface="Aptos"/>
              </a:rPr>
              <a:t>?</a:t>
            </a:r>
          </a:p>
        </p:txBody>
      </p:sp>
      <p:sp>
        <p:nvSpPr>
          <p:cNvPr id="8" name="Oval 7"/>
          <p:cNvSpPr/>
          <p:nvPr/>
        </p:nvSpPr>
        <p:spPr>
          <a:xfrm>
            <a:off x="10003536" y="177393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991B1B"/>
                </a:solidFill>
                <a:latin typeface="Aptos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4617720"/>
            <a:ext cx="384048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72033"/>
                </a:solidFill>
                <a:latin typeface="Aptos"/>
              </a:rPr>
              <a:t>try to find a divisor of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376672"/>
            <a:ext cx="107442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586476"/>
                </a:solidFill>
                <a:latin typeface="Aptos"/>
              </a:rPr>
              <a:t>Conventional factoring tests proposed divisors against the center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41908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86476"/>
                </a:solidFill>
                <a:latin typeface="Aptos"/>
              </a:rPr>
              <a:t>Public nominations frozen first. Hidden factors used afterward for scoring.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ptos"/>
              </a:rPr>
              <a:t>The Neighborhood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105156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72033"/>
                </a:solidFill>
                <a:latin typeface="Aptos"/>
              </a:rPr>
              <a:t>Move left or right from the center and more public numbers appear.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3182112"/>
            <a:ext cx="104241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751576" y="2852928"/>
            <a:ext cx="658368" cy="658368"/>
          </a:xfrm>
          <a:prstGeom prst="ellipse">
            <a:avLst/>
          </a:prstGeom>
          <a:solidFill>
            <a:srgbClr val="0F766E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6" name="Oval 5"/>
          <p:cNvSpPr/>
          <p:nvPr/>
        </p:nvSpPr>
        <p:spPr>
          <a:xfrm>
            <a:off x="1271016" y="303580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85415" y="303580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99815" y="303580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05656" y="303580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28616" y="303580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0296" y="303580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54696" y="303580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0536" y="303580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74936" y="303580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89336" y="303580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03904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476"/>
                </a:solidFill>
                <a:latin typeface="Aptos"/>
              </a:rPr>
              <a:t>composites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803904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476"/>
                </a:solidFill>
                <a:latin typeface="Aptos"/>
              </a:rPr>
              <a:t>composites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376672"/>
            <a:ext cx="107442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586476"/>
                </a:solidFill>
                <a:latin typeface="Aptos"/>
              </a:rPr>
              <a:t>The surrounding composites have small public features that can be read without knowing the factors.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41908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86476"/>
                </a:solidFill>
                <a:latin typeface="Aptos"/>
              </a:rPr>
              <a:t>Public nominations frozen first. Hidden factors used afterward for scoring.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ptos"/>
              </a:rPr>
              <a:t>Threads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9875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72033"/>
                </a:solidFill>
                <a:latin typeface="Aptos"/>
              </a:rPr>
              <a:t>Public features become repeated relationships through the local field.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3200400"/>
            <a:ext cx="104241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769864" y="2889504"/>
            <a:ext cx="621792" cy="621792"/>
          </a:xfrm>
          <a:prstGeom prst="ellipse">
            <a:avLst/>
          </a:prstGeom>
          <a:solidFill>
            <a:srgbClr val="0F766E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1874519"/>
            <a:ext cx="9784080" cy="2697481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600200" y="1828800"/>
            <a:ext cx="8641080" cy="2788920"/>
          </a:xfrm>
          <a:prstGeom prst="line">
            <a:avLst/>
          </a:prstGeom>
          <a:ln w="381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14400" y="2651760"/>
            <a:ext cx="10149840" cy="960120"/>
          </a:xfrm>
          <a:prstGeom prst="line">
            <a:avLst/>
          </a:prstGeom>
          <a:ln w="381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801368" y="308152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98648" y="308152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41648" y="308152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47488" y="308152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76288" y="308152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73567" y="308152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16567" y="308152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22407" y="3081528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376672"/>
            <a:ext cx="107442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586476"/>
                </a:solidFill>
                <a:latin typeface="Aptos"/>
              </a:rPr>
              <a:t>A single thread is weak. Several threads crossing the same distance create a nomination.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41908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86476"/>
                </a:solidFill>
                <a:latin typeface="Aptos"/>
              </a:rPr>
              <a:t>Public nominations frozen first. Hidden factors used afterward for scoring.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ptos"/>
              </a:rPr>
              <a:t>Intersections Nominate A Distance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10515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72033"/>
                </a:solidFill>
                <a:latin typeface="Aptos"/>
              </a:rPr>
              <a:t>The nominated object is a distance from the center.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3246120"/>
            <a:ext cx="104241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769864" y="2935224"/>
            <a:ext cx="621792" cy="621792"/>
          </a:xfrm>
          <a:prstGeom prst="ellipse">
            <a:avLst/>
          </a:prstGeom>
          <a:solidFill>
            <a:srgbClr val="0F766E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17320" y="1691640"/>
            <a:ext cx="7315200" cy="329184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874519" y="1737360"/>
            <a:ext cx="6858001" cy="3218688"/>
          </a:xfrm>
          <a:prstGeom prst="line">
            <a:avLst/>
          </a:prstGeom>
          <a:ln w="381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32520" y="1691640"/>
            <a:ext cx="0" cy="3291840"/>
          </a:xfrm>
          <a:prstGeom prst="line">
            <a:avLst/>
          </a:prstGeom>
          <a:ln w="38100">
            <a:solidFill>
              <a:srgbClr val="99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513064" y="3026663"/>
            <a:ext cx="438912" cy="438912"/>
          </a:xfrm>
          <a:prstGeom prst="ellipse">
            <a:avLst/>
          </a:prstGeom>
          <a:solidFill>
            <a:srgbClr val="991B1B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3858768"/>
            <a:ext cx="2651760" cy="0"/>
          </a:xfrm>
          <a:prstGeom prst="line">
            <a:avLst/>
          </a:prstGeom>
          <a:ln w="38100">
            <a:solidFill>
              <a:srgbClr val="99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29400" y="4096512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991B1B"/>
                </a:solidFill>
                <a:latin typeface="Aptos"/>
              </a:rPr>
              <a:t>distance from 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376672"/>
            <a:ext cx="107442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586476"/>
                </a:solidFill>
                <a:latin typeface="Aptos"/>
              </a:rPr>
              <a:t>The distance is not chosen by testing a divisor. It is chosen because the surrounding web points toward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41908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86476"/>
                </a:solidFill>
                <a:latin typeface="Aptos"/>
              </a:rPr>
              <a:t>Public nominations frozen first. Hidden factors used afterward for scoring.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ptos"/>
              </a:rPr>
              <a:t>Anchor And Confirmation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72033"/>
                </a:solidFill>
                <a:latin typeface="Aptos"/>
              </a:rPr>
              <a:t>The signal does not need both sides to be equally strong.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3246120"/>
            <a:ext cx="104241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769864" y="2935224"/>
            <a:ext cx="621792" cy="621792"/>
          </a:xfrm>
          <a:prstGeom prst="ellipse">
            <a:avLst/>
          </a:prstGeom>
          <a:solidFill>
            <a:srgbClr val="0F766E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6" name="Oval 5"/>
          <p:cNvSpPr/>
          <p:nvPr/>
        </p:nvSpPr>
        <p:spPr>
          <a:xfrm>
            <a:off x="3136392" y="2999232"/>
            <a:ext cx="493776" cy="493776"/>
          </a:xfrm>
          <a:prstGeom prst="ellipse">
            <a:avLst/>
          </a:prstGeom>
          <a:solidFill>
            <a:srgbClr val="B45309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8531352" y="2999232"/>
            <a:ext cx="493776" cy="493776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1691640"/>
            <a:ext cx="1371600" cy="1554480"/>
          </a:xfrm>
          <a:prstGeom prst="line">
            <a:avLst/>
          </a:prstGeom>
          <a:ln w="381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240280" y="3246120"/>
            <a:ext cx="1143000" cy="1554480"/>
          </a:xfrm>
          <a:prstGeom prst="line">
            <a:avLst/>
          </a:prstGeom>
          <a:ln w="381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83280" y="1600200"/>
            <a:ext cx="0" cy="3291840"/>
          </a:xfrm>
          <a:prstGeom prst="line">
            <a:avLst/>
          </a:prstGeom>
          <a:ln w="381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1874519"/>
            <a:ext cx="1097280" cy="2880361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77440" y="5303520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B45309"/>
                </a:solidFill>
                <a:latin typeface="Aptos"/>
              </a:rPr>
              <a:t>anchor 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5303520"/>
            <a:ext cx="2148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2563EB"/>
                </a:solidFill>
                <a:latin typeface="Aptos"/>
              </a:rPr>
              <a:t>confirmation 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376672"/>
            <a:ext cx="107442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586476"/>
                </a:solidFill>
                <a:latin typeface="Aptos"/>
              </a:rPr>
              <a:t>One side anchors the distance. The opposite side confirms the same distance.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1908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86476"/>
                </a:solidFill>
                <a:latin typeface="Aptos"/>
              </a:rPr>
              <a:t>Public nominations frozen first. Hidden factors used afterward for scoring.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ptos"/>
              </a:rPr>
              <a:t>Local Distance Bands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72033"/>
                </a:solidFill>
                <a:latin typeface="Aptos"/>
              </a:rPr>
              <a:t>A single global top list can hide the correct distance.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1783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783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86476"/>
                </a:solidFill>
                <a:latin typeface="Aptos"/>
              </a:rPr>
              <a:t>near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057400"/>
            <a:ext cx="1783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737360"/>
            <a:ext cx="1783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86476"/>
                </a:solidFill>
                <a:latin typeface="Aptos"/>
              </a:rPr>
              <a:t>middle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2057400"/>
            <a:ext cx="1783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737360"/>
            <a:ext cx="1783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86476"/>
                </a:solidFill>
                <a:latin typeface="Aptos"/>
              </a:rPr>
              <a:t>far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057400"/>
            <a:ext cx="178308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737360"/>
            <a:ext cx="1783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86476"/>
                </a:solidFill>
                <a:latin typeface="Aptos"/>
              </a:rPr>
              <a:t>farther</a:t>
            </a:r>
          </a:p>
        </p:txBody>
      </p:sp>
      <p:sp>
        <p:nvSpPr>
          <p:cNvPr id="12" name="Oval 11"/>
          <p:cNvSpPr/>
          <p:nvPr/>
        </p:nvSpPr>
        <p:spPr>
          <a:xfrm>
            <a:off x="1060704" y="2432304"/>
            <a:ext cx="164592" cy="164592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17904" y="2798064"/>
            <a:ext cx="164592" cy="164592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29384" y="2340864"/>
            <a:ext cx="164592" cy="164592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3026664"/>
            <a:ext cx="164592" cy="164592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78224" y="2615184"/>
            <a:ext cx="164592" cy="164592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98464" y="3438144"/>
            <a:ext cx="164592" cy="164592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38544" y="2569464"/>
            <a:ext cx="164592" cy="164592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75904" y="2798064"/>
            <a:ext cx="164592" cy="164592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44584" y="3529584"/>
            <a:ext cx="164592" cy="164592"/>
          </a:xfrm>
          <a:prstGeom prst="ellipse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23960" y="3429000"/>
            <a:ext cx="365760" cy="365760"/>
          </a:xfrm>
          <a:prstGeom prst="ellipse">
            <a:avLst/>
          </a:prstGeom>
          <a:solidFill>
            <a:srgbClr val="991B1B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hit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376672"/>
            <a:ext cx="107442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586476"/>
                </a:solidFill>
                <a:latin typeface="Aptos"/>
              </a:rPr>
              <a:t>Each distance scale gets its own nominations, so nearby structure does not erase a farther hit.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41908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86476"/>
                </a:solidFill>
                <a:latin typeface="Aptos"/>
              </a:rPr>
              <a:t>Public nominations frozen first. Hidden factors used afterward for scoring.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72033"/>
                </a:solidFill>
                <a:latin typeface="Aptos"/>
              </a:rPr>
              <a:t>What Was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24128"/>
            <a:ext cx="105156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72033"/>
                </a:solidFill>
                <a:latin typeface="Aptos"/>
              </a:rPr>
              <a:t>Six semiprimes were tested. In all six cases, one factor distance appeared in the frozen public web nominations.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965960"/>
          <a:ext cx="96926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  <a:gridCol w="1920240"/>
              </a:tblGrid>
              <a:tr h="476794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72033"/>
                          </a:solidFill>
                          <a:latin typeface="Aptos"/>
                        </a:rPr>
                        <a:t>case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72033"/>
                          </a:solidFill>
                          <a:latin typeface="Aptos"/>
                        </a:rPr>
                        <a:t>public hit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72033"/>
                          </a:solidFill>
                          <a:latin typeface="Aptos"/>
                        </a:rPr>
                        <a:t>band rank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toy 23 by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one factor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/>
                </a:tc>
              </a:tr>
              <a:tr h="47679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toy 43 by 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one factor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/>
                </a:tc>
              </a:tr>
              <a:tr h="47679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toy 61 by 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one factor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48</a:t>
                      </a:r>
                    </a:p>
                  </a:txBody>
                  <a:tcPr/>
                </a:tc>
              </a:tr>
              <a:tr h="47679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toy 89 by 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one factor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28</a:t>
                      </a:r>
                    </a:p>
                  </a:txBody>
                  <a:tcPr/>
                </a:tc>
              </a:tr>
              <a:tr h="47679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131101 by 144203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one factor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140</a:t>
                      </a:r>
                    </a:p>
                  </a:txBody>
                  <a:tcPr/>
                </a:tc>
              </a:tr>
              <a:tr h="47679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1048583 by 1153441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one factor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72033"/>
                          </a:solidFill>
                          <a:latin typeface="Aptos"/>
                        </a:rPr>
                        <a:t>2136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532120"/>
            <a:ext cx="101498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86476"/>
                </a:solidFill>
                <a:latin typeface="Aptos"/>
              </a:rPr>
              <a:t>Hidden factors entered only after the nominations were fixed, as a check against the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419088"/>
            <a:ext cx="10789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586476"/>
                </a:solidFill>
                <a:latin typeface="Aptos"/>
              </a:rPr>
              <a:t>Public nominations frozen first. Hidden factors used afterward for scoring.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